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362" r:id="rId2"/>
    <p:sldId id="324" r:id="rId3"/>
    <p:sldId id="269" r:id="rId4"/>
    <p:sldId id="270" r:id="rId5"/>
    <p:sldId id="288" r:id="rId6"/>
    <p:sldId id="289" r:id="rId7"/>
    <p:sldId id="303" r:id="rId8"/>
    <p:sldId id="301" r:id="rId9"/>
    <p:sldId id="290" r:id="rId10"/>
    <p:sldId id="294" r:id="rId11"/>
    <p:sldId id="267" r:id="rId12"/>
    <p:sldId id="308" r:id="rId13"/>
    <p:sldId id="309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5" autoAdjust="0"/>
    <p:restoredTop sz="96357" autoAdjust="0"/>
  </p:normalViewPr>
  <p:slideViewPr>
    <p:cSldViewPr snapToGrid="0" snapToObjects="1">
      <p:cViewPr varScale="1">
        <p:scale>
          <a:sx n="113" d="100"/>
          <a:sy n="113" d="100"/>
        </p:scale>
        <p:origin x="5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3648-2745-404C-AB28-DBFC1931C621}" type="datetimeFigureOut">
              <a:rPr lang="en-US" smtClean="0"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8E68-0542-47E9-9A0D-1605328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3A19-A819-9A4A-ABD1-6F513CBE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EPC.SPACE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A0FC-6AA3-FD49-8E73-4F426466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1632D-9FED-2D41-89A3-82DD84E0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nature, blue, sky, water&#10;&#10;Description automatically generated">
            <a:extLst>
              <a:ext uri="{FF2B5EF4-FFF2-40B4-BE49-F238E27FC236}">
                <a16:creationId xmlns:a16="http://schemas.microsoft.com/office/drawing/2014/main" id="{A143E2E1-DA84-2E4A-B55A-4006D4C0F2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5E07E3F-0306-BF43-A4DD-BE09B12C35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867819"/>
            <a:ext cx="8037560" cy="11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blue, star, man&#10;&#10;Description automatically generated">
            <a:extLst>
              <a:ext uri="{FF2B5EF4-FFF2-40B4-BE49-F238E27FC236}">
                <a16:creationId xmlns:a16="http://schemas.microsoft.com/office/drawing/2014/main" id="{FC79CBE9-4CCF-3546-9D30-A0B4654A8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5156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483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578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15706F-144A-F940-B109-65DD5C274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11E24CA-704B-41D0-AB1E-3661E2C6D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D9ECD9-4D4F-4F30-8264-2B6FD1AD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2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FF12DA-9916-4890-B5A6-0CF20E1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D228E-B119-490F-9544-AFCDF22E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8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81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5A3667-8500-451B-9217-F70A5C24D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763" y="437792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37CA25B-B78C-4576-B81A-4A17321CCB5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2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A768-88BB-2345-8D04-45C8E50C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3855-67E0-CA47-BB49-EF3744F8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6CF888-1C26-405D-8360-530C329E4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6565A3-050A-4704-8A68-488434451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BEBC-DA7F-624F-AE81-47FCD70B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0968-B931-2446-B6B8-A57CF33B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9039934-44FF-437F-9AD4-6845EF2DB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F7B4AB-75F5-49BC-8F8C-3EC32B39D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BA92-21DE-2F40-AFCE-39EDAC5A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7F41-27E4-3641-A607-6101F4480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1D05-70C4-1245-B07A-C9D57B6F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CAD9715-3D59-432B-A312-17C96803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99AA6C-8935-4CE5-96AF-52752C99D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9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CD20-EF45-C54D-A54D-D3B541E9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429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A387-3CF9-9547-BBE3-253A9745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033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3AF46-BE02-894C-B902-A65B0DD75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0424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9F7DB-53D3-FC47-B5C5-2D5EA0218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8032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8F9E7-A88A-D943-B162-EA20D63F3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0424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5D8C86-80C2-4212-92C9-C673ACB6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3C147D-FB9A-498C-9D5B-37FEDB461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6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38E5-D337-D94A-8827-77735A03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535A825-D932-4B23-B7DE-CC511F04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D5E666-150C-4667-857C-C124D4AE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6D4BFE-B36B-4D44-BC8E-2470B29A5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B116-ED7D-4491-B0AB-C474840F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0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EBC9-1831-DE49-B4BD-57705E28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46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EDAB-75CF-D246-8091-FA604B68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948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79587-65B1-7E4B-9159-65CCF860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8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3AC454-7498-488F-B76B-2D30C16D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B73450-9FB1-48E9-9A6F-E9011B78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4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8C3C-2F37-5C4A-A738-F881B14E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4C531-C056-7A44-8BAE-F8305875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F5E64-3913-5840-BD76-E0ED1FF0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ECA6F3D-958A-4521-9FF0-4C295EF4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11C9C0-15BD-41E3-ABCC-26D3BAEBF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DF9E-0921-5F40-9AE5-65532AE2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9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16C35-90F3-EE4C-8A60-1E587FA0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08699F-BC2E-47A1-89F9-061188174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E6521A-1908-426C-8D52-247AFB72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6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22814-E726-C547-9BC2-9EFA0542E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23452"/>
            <a:ext cx="2628900" cy="54436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3289-ADA4-D64B-AA2A-A10D69CFD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23452"/>
            <a:ext cx="7734300" cy="5443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734181-5E9B-4D00-91B8-492F2F19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D9BC53-3FE7-48D8-9877-70440E6CE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5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763" y="603971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763" y="1515060"/>
            <a:ext cx="10993546" cy="590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0A1A658-C697-48B6-A38E-1EE8EB216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E3102E-DD8B-4D04-A8B4-B6950ABB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1134179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56057"/>
            <a:ext cx="11029616" cy="4747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251A69E-2577-42CE-8F19-B8BAF8BC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1623225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4B791F-57C0-429A-A0C2-A6B276BC9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2390510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10515600" cy="5140214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r>
              <a:rPr lang="en-US" dirty="0"/>
              <a:t>Click to edit content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65DC6-3FA1-4FEB-B274-F5806A825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3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2CE035-55A2-493F-8D9C-8DD89E8C6C5E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6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941F4-EE6A-0243-9954-A988F3A8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7CA05-E293-6D4F-9153-AF706238A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668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0464-4D62-104F-8A7B-F404C1390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9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1" r:id="rId3"/>
    <p:sldLayoutId id="2147483660" r:id="rId4"/>
    <p:sldLayoutId id="2147483665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3" r:id="rId16"/>
    <p:sldLayoutId id="2147483664" r:id="rId17"/>
    <p:sldLayoutId id="2147483666" r:id="rId1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16B3-AB76-4ACB-96F7-C2A3B775F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VDS STRESS TEST</a:t>
            </a:r>
            <a:br>
              <a:rPr lang="en-US" sz="3600" dirty="0"/>
            </a:br>
            <a:r>
              <a:rPr lang="en-US" sz="3600" dirty="0"/>
              <a:t>FBG10N30</a:t>
            </a:r>
          </a:p>
        </p:txBody>
      </p:sp>
    </p:spTree>
    <p:extLst>
      <p:ext uri="{BB962C8B-B14F-4D97-AF65-F5344CB8AC3E}">
        <p14:creationId xmlns:p14="http://schemas.microsoft.com/office/powerpoint/2010/main" val="10950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EBEC-8797-4226-80CE-B043E8BA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DC STRESS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04387-1BCC-4094-AF5F-296C7B49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DFE18-589A-4166-ABF3-5894D19980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Parts were grouped and run at successively higher voltage.</a:t>
            </a:r>
          </a:p>
          <a:p>
            <a:pPr lvl="1"/>
            <a:r>
              <a:rPr lang="en-US" dirty="0"/>
              <a:t>Test period was ~18 hours (Overnight)</a:t>
            </a:r>
          </a:p>
          <a:p>
            <a:pPr lvl="1"/>
            <a:r>
              <a:rPr lang="en-US" dirty="0"/>
              <a:t>Parts tested with full parametric test on Focused tester after every step.</a:t>
            </a:r>
          </a:p>
          <a:p>
            <a:pPr lvl="1"/>
            <a:r>
              <a:rPr lang="en-US" sz="2800" dirty="0"/>
              <a:t>VDS tested : 80V to 170V at Temperatures of 110C, 130C, 150C,170C</a:t>
            </a:r>
            <a:endParaRPr lang="en-US" dirty="0"/>
          </a:p>
          <a:p>
            <a:pPr lvl="1"/>
            <a:r>
              <a:rPr lang="en-US" dirty="0"/>
              <a:t> Parts with very high leakage were removed at each step</a:t>
            </a:r>
          </a:p>
          <a:p>
            <a:pPr lvl="1"/>
            <a:r>
              <a:rPr lang="en-US" dirty="0"/>
              <a:t>X axis (voltage represents Applied stress voltage not test voltage)</a:t>
            </a:r>
          </a:p>
        </p:txBody>
      </p:sp>
    </p:spTree>
    <p:extLst>
      <p:ext uri="{BB962C8B-B14F-4D97-AF65-F5344CB8AC3E}">
        <p14:creationId xmlns:p14="http://schemas.microsoft.com/office/powerpoint/2010/main" val="24525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C86B1C-CC12-4DC3-AFD0-EA5188309FB6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HTRB OVEN LOGS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DB97A8-C54F-428A-A981-5766ED4D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92" y="3766313"/>
            <a:ext cx="4584589" cy="2591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039BC3-DEA4-4F2C-B475-0332016CC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781" y="936962"/>
            <a:ext cx="4584589" cy="2591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C1039B-563F-4F26-AC30-A14D8136A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705" y="3766313"/>
            <a:ext cx="4584588" cy="26124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B0AA9C-9AC4-453C-A5DC-47BED6004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992" y="936962"/>
            <a:ext cx="4584589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0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HTGB OVEN LOGS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FC55EA-4FF0-4498-BE95-4475D2F8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05" y="3768498"/>
            <a:ext cx="4584589" cy="2566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4FE71B-2E53-4BBC-AD0F-EDEA0CCAD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06" y="3768498"/>
            <a:ext cx="4584589" cy="2566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14C82F-111C-4036-8451-6795465EC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07" y="822261"/>
            <a:ext cx="4584589" cy="2566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43D81E-0022-406B-8739-F46CEC325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704" y="822261"/>
            <a:ext cx="4584589" cy="25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1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IDSS - HTRB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30F8B9-785A-45EC-9509-543E197FB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452" y="3893476"/>
            <a:ext cx="4584589" cy="2755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96C3C1-9FDF-46C2-8383-D9D834567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452" y="861083"/>
            <a:ext cx="4584589" cy="27495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AA1601-83E8-4E87-BBB0-F32BC66ED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30" y="3893476"/>
            <a:ext cx="4584589" cy="27556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A0ADE0-988F-4F81-B5F4-278709D74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34" y="848890"/>
            <a:ext cx="4584589" cy="2761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11C2F-A47F-42A6-BC67-6B22DDB328AC}"/>
              </a:ext>
            </a:extLst>
          </p:cNvPr>
          <p:cNvSpPr txBox="1"/>
          <p:nvPr/>
        </p:nvSpPr>
        <p:spPr>
          <a:xfrm>
            <a:off x="4983393" y="3004310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IDSS measured at 100V</a:t>
            </a:r>
          </a:p>
        </p:txBody>
      </p:sp>
    </p:spTree>
    <p:extLst>
      <p:ext uri="{BB962C8B-B14F-4D97-AF65-F5344CB8AC3E}">
        <p14:creationId xmlns:p14="http://schemas.microsoft.com/office/powerpoint/2010/main" val="99300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505E34-8EA6-4DAB-8990-229F4B18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80" y="3899571"/>
            <a:ext cx="4584589" cy="27495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IGSSF - HTRB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ACFFE0-DB32-4239-AF4E-CF28DA5A3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0" y="3899571"/>
            <a:ext cx="4584589" cy="27556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BC227C-8908-41AC-8B16-34C970479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380" y="853544"/>
            <a:ext cx="4584589" cy="27556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A7EAB4-72C2-45F5-9D7C-34A89BA69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19" y="853544"/>
            <a:ext cx="4584589" cy="2749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965264-92BB-4188-89EE-4552AB0FC0CC}"/>
              </a:ext>
            </a:extLst>
          </p:cNvPr>
          <p:cNvSpPr txBox="1"/>
          <p:nvPr/>
        </p:nvSpPr>
        <p:spPr>
          <a:xfrm>
            <a:off x="4983393" y="3004310"/>
            <a:ext cx="222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IGSS measured at 5V</a:t>
            </a:r>
          </a:p>
        </p:txBody>
      </p:sp>
    </p:spTree>
    <p:extLst>
      <p:ext uri="{BB962C8B-B14F-4D97-AF65-F5344CB8AC3E}">
        <p14:creationId xmlns:p14="http://schemas.microsoft.com/office/powerpoint/2010/main" val="279633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IGSSR - HTRB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F748EC-4377-42DE-B6BA-30AE61C9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78" y="940296"/>
            <a:ext cx="4584589" cy="2743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872137-09EA-4670-B304-815BD3585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33" y="3905670"/>
            <a:ext cx="4584589" cy="27434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3D20D3-28C1-4577-B7E7-6C741A091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778" y="3905670"/>
            <a:ext cx="4584589" cy="27363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DE438A-2ADE-4A4A-B820-FF42ACFF7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729" y="940296"/>
            <a:ext cx="4578493" cy="2743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3E901A-978B-4A44-AAE3-F60FF07C1A49}"/>
              </a:ext>
            </a:extLst>
          </p:cNvPr>
          <p:cNvSpPr txBox="1"/>
          <p:nvPr/>
        </p:nvSpPr>
        <p:spPr>
          <a:xfrm>
            <a:off x="4983393" y="3004310"/>
            <a:ext cx="222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IGSR measured at -4V</a:t>
            </a:r>
          </a:p>
        </p:txBody>
      </p:sp>
    </p:spTree>
    <p:extLst>
      <p:ext uri="{BB962C8B-B14F-4D97-AF65-F5344CB8AC3E}">
        <p14:creationId xmlns:p14="http://schemas.microsoft.com/office/powerpoint/2010/main" val="340343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VGSth</a:t>
            </a:r>
            <a:r>
              <a:rPr lang="en-US" dirty="0">
                <a:solidFill>
                  <a:schemeClr val="bg1"/>
                </a:solidFill>
              </a:rPr>
              <a:t> - HTRB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F4CFF9-1312-47FE-A71C-76F1B3E92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1" y="3810898"/>
            <a:ext cx="4584589" cy="27434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061043-8721-49D3-9600-281D78EF8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705" y="788936"/>
            <a:ext cx="4584589" cy="27434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E0CED9-D256-41BD-A129-15C3B527E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705" y="3810899"/>
            <a:ext cx="4584589" cy="27434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D73EDC-6EA1-4780-AF23-FF4F61809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777" y="788936"/>
            <a:ext cx="4578493" cy="2743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A446F7-985C-4E52-AAF3-BE6381CEF029}"/>
              </a:ext>
            </a:extLst>
          </p:cNvPr>
          <p:cNvSpPr txBox="1"/>
          <p:nvPr/>
        </p:nvSpPr>
        <p:spPr>
          <a:xfrm>
            <a:off x="4983393" y="3004310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VGS </a:t>
            </a:r>
            <a:r>
              <a:rPr lang="en-US" dirty="0" err="1"/>
              <a:t>th</a:t>
            </a:r>
            <a:r>
              <a:rPr lang="en-US" dirty="0"/>
              <a:t> measured at 5mA</a:t>
            </a:r>
          </a:p>
        </p:txBody>
      </p:sp>
    </p:spTree>
    <p:extLst>
      <p:ext uri="{BB962C8B-B14F-4D97-AF65-F5344CB8AC3E}">
        <p14:creationId xmlns:p14="http://schemas.microsoft.com/office/powerpoint/2010/main" val="184919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RDSON - HTRB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ABBDAC-1F10-41EE-A99F-B063043B8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390" y="3905669"/>
            <a:ext cx="4584589" cy="27434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8AD2F3-45C4-421B-8CF0-609FA6B94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71" y="3905669"/>
            <a:ext cx="4584589" cy="27434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CC9E54-AB59-446A-8A97-6854F5B04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389" y="873276"/>
            <a:ext cx="4584589" cy="27434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87725C-B396-4303-9834-E06D761D0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767" y="870227"/>
            <a:ext cx="4578493" cy="2743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55F725-DDE3-4744-9C6D-95CDA5EF5CD3}"/>
              </a:ext>
            </a:extLst>
          </p:cNvPr>
          <p:cNvSpPr txBox="1"/>
          <p:nvPr/>
        </p:nvSpPr>
        <p:spPr>
          <a:xfrm>
            <a:off x="4983393" y="3004310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RDSON measured at 30A, </a:t>
            </a:r>
            <a:r>
              <a:rPr lang="en-US" dirty="0" err="1"/>
              <a:t>Vgs</a:t>
            </a:r>
            <a:r>
              <a:rPr lang="en-US" dirty="0"/>
              <a:t> 5V</a:t>
            </a:r>
          </a:p>
        </p:txBody>
      </p:sp>
    </p:spTree>
    <p:extLst>
      <p:ext uri="{BB962C8B-B14F-4D97-AF65-F5344CB8AC3E}">
        <p14:creationId xmlns:p14="http://schemas.microsoft.com/office/powerpoint/2010/main" val="149806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RDSON 1s - HTRB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7A90C1-D42E-479F-8313-BCCB53DD8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43" y="1004859"/>
            <a:ext cx="4584589" cy="2743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61557C-9807-4250-872A-BD63896EF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68" y="3869091"/>
            <a:ext cx="4584589" cy="2743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207924-CA7B-45F9-969D-1F1DF38EA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542" y="3869091"/>
            <a:ext cx="4584589" cy="27434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05C8EB-B4BC-4125-AB42-7EBF262F9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68" y="1004859"/>
            <a:ext cx="4578493" cy="2743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0661C0-33C2-4A6D-A6CD-242DA4587D6F}"/>
              </a:ext>
            </a:extLst>
          </p:cNvPr>
          <p:cNvSpPr txBox="1"/>
          <p:nvPr/>
        </p:nvSpPr>
        <p:spPr>
          <a:xfrm>
            <a:off x="4983393" y="3004310"/>
            <a:ext cx="2225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RDSON measured at 30A, </a:t>
            </a:r>
            <a:r>
              <a:rPr lang="en-US" dirty="0" err="1"/>
              <a:t>Vgs</a:t>
            </a:r>
            <a:r>
              <a:rPr lang="en-US" dirty="0"/>
              <a:t> 5V</a:t>
            </a:r>
          </a:p>
        </p:txBody>
      </p:sp>
    </p:spTree>
    <p:extLst>
      <p:ext uri="{BB962C8B-B14F-4D97-AF65-F5344CB8AC3E}">
        <p14:creationId xmlns:p14="http://schemas.microsoft.com/office/powerpoint/2010/main" val="3071168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OVEN LOG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238AB5-BCAF-4E31-AA6B-66BB8735CE8A}"/>
              </a:ext>
            </a:extLst>
          </p:cNvPr>
          <p:cNvGraphicFramePr>
            <a:graphicFrameLocks noGrp="1"/>
          </p:cNvGraphicFramePr>
          <p:nvPr/>
        </p:nvGraphicFramePr>
        <p:xfrm>
          <a:off x="1966824" y="914400"/>
          <a:ext cx="7841411" cy="5348384"/>
        </p:xfrm>
        <a:graphic>
          <a:graphicData uri="http://schemas.openxmlformats.org/drawingml/2006/table">
            <a:tbl>
              <a:tblPr/>
              <a:tblGrid>
                <a:gridCol w="337870">
                  <a:extLst>
                    <a:ext uri="{9D8B030D-6E8A-4147-A177-3AD203B41FA5}">
                      <a16:colId xmlns:a16="http://schemas.microsoft.com/office/drawing/2014/main" val="447831445"/>
                    </a:ext>
                  </a:extLst>
                </a:gridCol>
                <a:gridCol w="366026">
                  <a:extLst>
                    <a:ext uri="{9D8B030D-6E8A-4147-A177-3AD203B41FA5}">
                      <a16:colId xmlns:a16="http://schemas.microsoft.com/office/drawing/2014/main" val="558447209"/>
                    </a:ext>
                  </a:extLst>
                </a:gridCol>
                <a:gridCol w="373066">
                  <a:extLst>
                    <a:ext uri="{9D8B030D-6E8A-4147-A177-3AD203B41FA5}">
                      <a16:colId xmlns:a16="http://schemas.microsoft.com/office/drawing/2014/main" val="2407405544"/>
                    </a:ext>
                  </a:extLst>
                </a:gridCol>
                <a:gridCol w="337870">
                  <a:extLst>
                    <a:ext uri="{9D8B030D-6E8A-4147-A177-3AD203B41FA5}">
                      <a16:colId xmlns:a16="http://schemas.microsoft.com/office/drawing/2014/main" val="761235230"/>
                    </a:ext>
                  </a:extLst>
                </a:gridCol>
                <a:gridCol w="1274053">
                  <a:extLst>
                    <a:ext uri="{9D8B030D-6E8A-4147-A177-3AD203B41FA5}">
                      <a16:colId xmlns:a16="http://schemas.microsoft.com/office/drawing/2014/main" val="1373276328"/>
                    </a:ext>
                  </a:extLst>
                </a:gridCol>
                <a:gridCol w="1274053">
                  <a:extLst>
                    <a:ext uri="{9D8B030D-6E8A-4147-A177-3AD203B41FA5}">
                      <a16:colId xmlns:a16="http://schemas.microsoft.com/office/drawing/2014/main" val="3453814490"/>
                    </a:ext>
                  </a:extLst>
                </a:gridCol>
                <a:gridCol w="351949">
                  <a:extLst>
                    <a:ext uri="{9D8B030D-6E8A-4147-A177-3AD203B41FA5}">
                      <a16:colId xmlns:a16="http://schemas.microsoft.com/office/drawing/2014/main" val="274310373"/>
                    </a:ext>
                  </a:extLst>
                </a:gridCol>
                <a:gridCol w="373066">
                  <a:extLst>
                    <a:ext uri="{9D8B030D-6E8A-4147-A177-3AD203B41FA5}">
                      <a16:colId xmlns:a16="http://schemas.microsoft.com/office/drawing/2014/main" val="1614410199"/>
                    </a:ext>
                  </a:extLst>
                </a:gridCol>
                <a:gridCol w="337870">
                  <a:extLst>
                    <a:ext uri="{9D8B030D-6E8A-4147-A177-3AD203B41FA5}">
                      <a16:colId xmlns:a16="http://schemas.microsoft.com/office/drawing/2014/main" val="12501344"/>
                    </a:ext>
                  </a:extLst>
                </a:gridCol>
                <a:gridCol w="1407794">
                  <a:extLst>
                    <a:ext uri="{9D8B030D-6E8A-4147-A177-3AD203B41FA5}">
                      <a16:colId xmlns:a16="http://schemas.microsoft.com/office/drawing/2014/main" val="1214292087"/>
                    </a:ext>
                  </a:extLst>
                </a:gridCol>
                <a:gridCol w="1407794">
                  <a:extLst>
                    <a:ext uri="{9D8B030D-6E8A-4147-A177-3AD203B41FA5}">
                      <a16:colId xmlns:a16="http://schemas.microsoft.com/office/drawing/2014/main" val="2116395822"/>
                    </a:ext>
                  </a:extLst>
                </a:gridCol>
              </a:tblGrid>
              <a:tr h="69459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HTRB Voltage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(mA)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Parts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 Power per part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HTGB Voltage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(mA)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Parts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 Power per part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1708"/>
                  </a:ext>
                </a:extLst>
              </a:tr>
              <a:tr h="173649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110C</a:t>
                      </a:r>
                    </a:p>
                  </a:txBody>
                  <a:tcPr marL="5051" marR="5051" marT="50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584939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558451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773211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384031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21251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9869922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0.019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70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576766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0.053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parts fail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615935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parts fail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0.087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33048"/>
                  </a:ext>
                </a:extLst>
              </a:tr>
              <a:tr h="3472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parts failed, many show signs of damage.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548821"/>
                  </a:ext>
                </a:extLst>
              </a:tr>
              <a:tr h="173649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823055"/>
                  </a:ext>
                </a:extLst>
              </a:tr>
              <a:tr h="173649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130C</a:t>
                      </a:r>
                    </a:p>
                  </a:txBody>
                  <a:tcPr marL="5051" marR="5051" marT="50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816978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760469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211538"/>
                  </a:ext>
                </a:extLst>
              </a:tr>
              <a:tr h="3299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Part blew fuse during run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5357221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Parts failing Rdosn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987200"/>
                  </a:ext>
                </a:extLst>
              </a:tr>
              <a:tr h="3299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Many Parts failign Rdson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361159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0.062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878273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497288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275664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486025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0.281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part failed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635734"/>
                  </a:ext>
                </a:extLst>
              </a:tr>
              <a:tr h="173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1130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0.646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parts failed</a:t>
                      </a:r>
                    </a:p>
                  </a:txBody>
                  <a:tcPr marL="5051" marR="5051" marT="50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275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81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E6549C-3101-42A9-B39B-0146DF250BEF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OVEN LOG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7DDC73-1168-45A8-BE91-0030D3A21999}"/>
              </a:ext>
            </a:extLst>
          </p:cNvPr>
          <p:cNvGraphicFramePr>
            <a:graphicFrameLocks noGrp="1"/>
          </p:cNvGraphicFramePr>
          <p:nvPr/>
        </p:nvGraphicFramePr>
        <p:xfrm>
          <a:off x="1956322" y="1095374"/>
          <a:ext cx="8353089" cy="4667252"/>
        </p:xfrm>
        <a:graphic>
          <a:graphicData uri="http://schemas.openxmlformats.org/drawingml/2006/table">
            <a:tbl>
              <a:tblPr/>
              <a:tblGrid>
                <a:gridCol w="359918">
                  <a:extLst>
                    <a:ext uri="{9D8B030D-6E8A-4147-A177-3AD203B41FA5}">
                      <a16:colId xmlns:a16="http://schemas.microsoft.com/office/drawing/2014/main" val="3937467411"/>
                    </a:ext>
                  </a:extLst>
                </a:gridCol>
                <a:gridCol w="389911">
                  <a:extLst>
                    <a:ext uri="{9D8B030D-6E8A-4147-A177-3AD203B41FA5}">
                      <a16:colId xmlns:a16="http://schemas.microsoft.com/office/drawing/2014/main" val="1953589300"/>
                    </a:ext>
                  </a:extLst>
                </a:gridCol>
                <a:gridCol w="397409">
                  <a:extLst>
                    <a:ext uri="{9D8B030D-6E8A-4147-A177-3AD203B41FA5}">
                      <a16:colId xmlns:a16="http://schemas.microsoft.com/office/drawing/2014/main" val="3734667879"/>
                    </a:ext>
                  </a:extLst>
                </a:gridCol>
                <a:gridCol w="359918">
                  <a:extLst>
                    <a:ext uri="{9D8B030D-6E8A-4147-A177-3AD203B41FA5}">
                      <a16:colId xmlns:a16="http://schemas.microsoft.com/office/drawing/2014/main" val="2709547347"/>
                    </a:ext>
                  </a:extLst>
                </a:gridCol>
                <a:gridCol w="1357189">
                  <a:extLst>
                    <a:ext uri="{9D8B030D-6E8A-4147-A177-3AD203B41FA5}">
                      <a16:colId xmlns:a16="http://schemas.microsoft.com/office/drawing/2014/main" val="4034179673"/>
                    </a:ext>
                  </a:extLst>
                </a:gridCol>
                <a:gridCol w="1357189">
                  <a:extLst>
                    <a:ext uri="{9D8B030D-6E8A-4147-A177-3AD203B41FA5}">
                      <a16:colId xmlns:a16="http://schemas.microsoft.com/office/drawing/2014/main" val="2333034642"/>
                    </a:ext>
                  </a:extLst>
                </a:gridCol>
                <a:gridCol w="374914">
                  <a:extLst>
                    <a:ext uri="{9D8B030D-6E8A-4147-A177-3AD203B41FA5}">
                      <a16:colId xmlns:a16="http://schemas.microsoft.com/office/drawing/2014/main" val="3245568632"/>
                    </a:ext>
                  </a:extLst>
                </a:gridCol>
                <a:gridCol w="397409">
                  <a:extLst>
                    <a:ext uri="{9D8B030D-6E8A-4147-A177-3AD203B41FA5}">
                      <a16:colId xmlns:a16="http://schemas.microsoft.com/office/drawing/2014/main" val="1091064937"/>
                    </a:ext>
                  </a:extLst>
                </a:gridCol>
                <a:gridCol w="359918">
                  <a:extLst>
                    <a:ext uri="{9D8B030D-6E8A-4147-A177-3AD203B41FA5}">
                      <a16:colId xmlns:a16="http://schemas.microsoft.com/office/drawing/2014/main" val="1418263322"/>
                    </a:ext>
                  </a:extLst>
                </a:gridCol>
                <a:gridCol w="1499657">
                  <a:extLst>
                    <a:ext uri="{9D8B030D-6E8A-4147-A177-3AD203B41FA5}">
                      <a16:colId xmlns:a16="http://schemas.microsoft.com/office/drawing/2014/main" val="2767012120"/>
                    </a:ext>
                  </a:extLst>
                </a:gridCol>
                <a:gridCol w="1499657">
                  <a:extLst>
                    <a:ext uri="{9D8B030D-6E8A-4147-A177-3AD203B41FA5}">
                      <a16:colId xmlns:a16="http://schemas.microsoft.com/office/drawing/2014/main" val="3129073036"/>
                    </a:ext>
                  </a:extLst>
                </a:gridCol>
              </a:tblGrid>
              <a:tr h="72547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HTRB Voltage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(mA)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Parts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 Power per part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HTGB Voltage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Current (mA)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Parts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 Power per part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950673"/>
                  </a:ext>
                </a:extLst>
              </a:tr>
              <a:tr h="181370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150C</a:t>
                      </a:r>
                    </a:p>
                  </a:txBody>
                  <a:tcPr marL="6046" marR="6046" marT="6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0.064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780518"/>
                  </a:ext>
                </a:extLst>
              </a:tr>
              <a:tr h="181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0.107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0.001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253310"/>
                  </a:ext>
                </a:extLst>
              </a:tr>
              <a:tr h="181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0.002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169399"/>
                  </a:ext>
                </a:extLst>
              </a:tr>
              <a:tr h="181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799833"/>
                  </a:ext>
                </a:extLst>
              </a:tr>
              <a:tr h="5441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Lost Several parts at beginnig of run and more failed during run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0.019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600573"/>
                  </a:ext>
                </a:extLst>
              </a:tr>
              <a:tr h="181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480136"/>
                  </a:ext>
                </a:extLst>
              </a:tr>
              <a:tr h="181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0.068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743279"/>
                  </a:ext>
                </a:extLst>
              </a:tr>
              <a:tr h="181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0.109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881859"/>
                  </a:ext>
                </a:extLst>
              </a:tr>
              <a:tr h="181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0.189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9829851"/>
                  </a:ext>
                </a:extLst>
              </a:tr>
              <a:tr h="181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129034"/>
                  </a:ext>
                </a:extLst>
              </a:tr>
              <a:tr h="5138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0.393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Part shorting during Run driving current over 1A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424211"/>
                  </a:ext>
                </a:extLst>
              </a:tr>
              <a:tr h="1813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456310"/>
                  </a:ext>
                </a:extLst>
              </a:tr>
              <a:tr h="36274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170C</a:t>
                      </a:r>
                    </a:p>
                  </a:txBody>
                  <a:tcPr marL="6046" marR="6046" marT="60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part blew fuse during the run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28786"/>
                  </a:ext>
                </a:extLst>
              </a:tr>
              <a:tr h="3627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parts blew fuse at beginnig of the run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024177"/>
                  </a:ext>
                </a:extLst>
              </a:tr>
              <a:tr h="3446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Parts blew fuse during run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0.105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046" marR="6046" marT="604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76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260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D2AB3B-FE98-4BD7-94F7-82102608A169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STRESS FAILURE SUMMARY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4DB9FB-32AB-4787-ABAC-1E9BBC5DACB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12760"/>
          <a:ext cx="10515600" cy="4461156"/>
        </p:xfrm>
        <a:graphic>
          <a:graphicData uri="http://schemas.openxmlformats.org/drawingml/2006/table">
            <a:tbl>
              <a:tblPr/>
              <a:tblGrid>
                <a:gridCol w="566497">
                  <a:extLst>
                    <a:ext uri="{9D8B030D-6E8A-4147-A177-3AD203B41FA5}">
                      <a16:colId xmlns:a16="http://schemas.microsoft.com/office/drawing/2014/main" val="4043697437"/>
                    </a:ext>
                  </a:extLst>
                </a:gridCol>
                <a:gridCol w="566497">
                  <a:extLst>
                    <a:ext uri="{9D8B030D-6E8A-4147-A177-3AD203B41FA5}">
                      <a16:colId xmlns:a16="http://schemas.microsoft.com/office/drawing/2014/main" val="535913927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1189907989"/>
                    </a:ext>
                  </a:extLst>
                </a:gridCol>
                <a:gridCol w="2142067">
                  <a:extLst>
                    <a:ext uri="{9D8B030D-6E8A-4147-A177-3AD203B41FA5}">
                      <a16:colId xmlns:a16="http://schemas.microsoft.com/office/drawing/2014/main" val="606271445"/>
                    </a:ext>
                  </a:extLst>
                </a:gridCol>
                <a:gridCol w="1495906">
                  <a:extLst>
                    <a:ext uri="{9D8B030D-6E8A-4147-A177-3AD203B41FA5}">
                      <a16:colId xmlns:a16="http://schemas.microsoft.com/office/drawing/2014/main" val="3150208046"/>
                    </a:ext>
                  </a:extLst>
                </a:gridCol>
                <a:gridCol w="4682451">
                  <a:extLst>
                    <a:ext uri="{9D8B030D-6E8A-4147-A177-3AD203B41FA5}">
                      <a16:colId xmlns:a16="http://schemas.microsoft.com/office/drawing/2014/main" val="2550597614"/>
                    </a:ext>
                  </a:extLst>
                </a:gridCol>
              </a:tblGrid>
              <a:tr h="212436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10N30 - STRESS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Sumary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81" marR="7081" marT="7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21454"/>
                  </a:ext>
                </a:extLst>
              </a:tr>
              <a:tr h="212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Stress V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Action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 / Final Screening Value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036783"/>
                  </a:ext>
                </a:extLst>
              </a:tr>
              <a:tr h="212436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110C</a:t>
                      </a:r>
                    </a:p>
                  </a:txBody>
                  <a:tcPr marL="7081" marR="7081" marT="7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Blew Fuse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040072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Blew Fuse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168013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RDSON over 30 Mohms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284672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Many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RDSON over 30 Mohms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131398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RDSON over 30 Mohms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663886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Vgsth Low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018252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Vgsth Low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764430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Gate Leakage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599307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Gate Leakage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23195"/>
                  </a:ext>
                </a:extLst>
              </a:tr>
              <a:tr h="212436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130C</a:t>
                      </a:r>
                    </a:p>
                  </a:txBody>
                  <a:tcPr marL="7081" marR="7081" marT="7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Vgsth high IDSS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FA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IGSS@5V  - 11.8uA – 25C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160854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Many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RDSON over 30 Mohms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47556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RDSON over 30 Mohms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170216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RDSON over 30 Mohms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409762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- below limt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FA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IDSS @ 100V – 1.2uA – 25C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982090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Vgsth Low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556400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Vgsth Low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083885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Vgsth Low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533068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Vgsth Low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019299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Many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Gate Leakage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720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8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D2AB3B-FE98-4BD7-94F7-82102608A169}"/>
              </a:ext>
            </a:extLst>
          </p:cNvPr>
          <p:cNvSpPr txBox="1"/>
          <p:nvPr/>
        </p:nvSpPr>
        <p:spPr>
          <a:xfrm>
            <a:off x="3810000" y="208892"/>
            <a:ext cx="64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STRESS FAILURE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358056-6F68-4A65-9412-B184C642205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35730"/>
          <a:ext cx="10515600" cy="3186540"/>
        </p:xfrm>
        <a:graphic>
          <a:graphicData uri="http://schemas.openxmlformats.org/drawingml/2006/table">
            <a:tbl>
              <a:tblPr/>
              <a:tblGrid>
                <a:gridCol w="566497">
                  <a:extLst>
                    <a:ext uri="{9D8B030D-6E8A-4147-A177-3AD203B41FA5}">
                      <a16:colId xmlns:a16="http://schemas.microsoft.com/office/drawing/2014/main" val="3062656914"/>
                    </a:ext>
                  </a:extLst>
                </a:gridCol>
                <a:gridCol w="566497">
                  <a:extLst>
                    <a:ext uri="{9D8B030D-6E8A-4147-A177-3AD203B41FA5}">
                      <a16:colId xmlns:a16="http://schemas.microsoft.com/office/drawing/2014/main" val="1149515401"/>
                    </a:ext>
                  </a:extLst>
                </a:gridCol>
                <a:gridCol w="1062182">
                  <a:extLst>
                    <a:ext uri="{9D8B030D-6E8A-4147-A177-3AD203B41FA5}">
                      <a16:colId xmlns:a16="http://schemas.microsoft.com/office/drawing/2014/main" val="2020622480"/>
                    </a:ext>
                  </a:extLst>
                </a:gridCol>
                <a:gridCol w="2142067">
                  <a:extLst>
                    <a:ext uri="{9D8B030D-6E8A-4147-A177-3AD203B41FA5}">
                      <a16:colId xmlns:a16="http://schemas.microsoft.com/office/drawing/2014/main" val="32797146"/>
                    </a:ext>
                  </a:extLst>
                </a:gridCol>
                <a:gridCol w="1495906">
                  <a:extLst>
                    <a:ext uri="{9D8B030D-6E8A-4147-A177-3AD203B41FA5}">
                      <a16:colId xmlns:a16="http://schemas.microsoft.com/office/drawing/2014/main" val="3788638917"/>
                    </a:ext>
                  </a:extLst>
                </a:gridCol>
                <a:gridCol w="4682451">
                  <a:extLst>
                    <a:ext uri="{9D8B030D-6E8A-4147-A177-3AD203B41FA5}">
                      <a16:colId xmlns:a16="http://schemas.microsoft.com/office/drawing/2014/main" val="2067737194"/>
                    </a:ext>
                  </a:extLst>
                </a:gridCol>
              </a:tblGrid>
              <a:tr h="212436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10N30 - STRESS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Sumary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81" marR="7081" marT="7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407478"/>
                  </a:ext>
                </a:extLst>
              </a:tr>
              <a:tr h="212436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Stress V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Action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Notes / Final Screening Value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19090"/>
                  </a:ext>
                </a:extLst>
              </a:tr>
              <a:tr h="212436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150C</a:t>
                      </a:r>
                    </a:p>
                  </a:txBody>
                  <a:tcPr marL="7081" marR="7081" marT="7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MANY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Blew Fuse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Except 22,28,34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23262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Vgsth Low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167396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IGSSF and IGSSR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248047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IGSSF and IGSSR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963270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IGSSF and IGSSR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217729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IGSSF and IGSSR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0304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Vgsth high IDSS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464005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IDSS - below limt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FA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IDSS @ 100V– 1.8uA @25C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676019"/>
                  </a:ext>
                </a:extLst>
              </a:tr>
              <a:tr h="212436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170C</a:t>
                      </a:r>
                    </a:p>
                  </a:txBody>
                  <a:tcPr marL="7081" marR="7081" marT="70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Vgsth Low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18454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IGSSF and IGSSR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77895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IGSSF and IGSSR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32047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IGSSF and IGSSR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2401"/>
                  </a:ext>
                </a:extLst>
              </a:tr>
              <a:tr h="2124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 IGSSF and IGSSR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081" marR="7081" marT="70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629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529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7F4E4FD-3BA3-473E-B7A8-0DF235177392}" vid="{32208431-F46B-44E9-B888-516CDC6490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EPC SPACE PPT Template</Template>
  <TotalTime>7852</TotalTime>
  <Words>961</Words>
  <Application>Microsoft Office PowerPoint</Application>
  <PresentationFormat>Widescreen</PresentationFormat>
  <Paragraphs>623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Helvetica</vt:lpstr>
      <vt:lpstr>Office Theme</vt:lpstr>
      <vt:lpstr>VDS STRESS TEST FBG10N30</vt:lpstr>
      <vt:lpstr>DC STRESS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Renee Yawger</dc:creator>
  <cp:lastModifiedBy>Shmoil Pourdavoud</cp:lastModifiedBy>
  <cp:revision>216</cp:revision>
  <dcterms:created xsi:type="dcterms:W3CDTF">2020-04-15T23:34:04Z</dcterms:created>
  <dcterms:modified xsi:type="dcterms:W3CDTF">2024-10-24T06:43:37Z</dcterms:modified>
</cp:coreProperties>
</file>